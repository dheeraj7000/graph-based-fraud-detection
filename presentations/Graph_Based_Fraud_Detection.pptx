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Sampled tabular</c:v>
                </c:pt>
              </c:strCache>
            </c:strRef>
          </c:tx>
          <c:spPr>
            <a:solidFill>
              <a:srgbClr val="3071BE"/>
            </a:solidFill>
          </c:spPr>
          <c:cat>
            <c:strRef>
              <c:f>Sheet1!$A$2:$A$5</c:f>
              <c:strCache>
                <c:ptCount val="4"/>
                <c:pt idx="0">
                  <c:v>Logistic</c:v>
                </c:pt>
                <c:pt idx="1">
                  <c:v>Random Forest</c:v>
                </c:pt>
                <c:pt idx="2">
                  <c:v>XGBoost</c:v>
                </c:pt>
                <c:pt idx="3">
                  <c:v>MLP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0.8073989371298125</c:v>
                </c:pt>
                <c:pt idx="1">
                  <c:v>0.9974179968927184</c:v>
                </c:pt>
                <c:pt idx="2">
                  <c:v>0.9686455391357968</c:v>
                </c:pt>
                <c:pt idx="3">
                  <c:v>0.7403901703942742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Sampled graph</c:v>
                </c:pt>
              </c:strCache>
            </c:strRef>
          </c:tx>
          <c:spPr>
            <a:solidFill>
              <a:srgbClr val="23A69A"/>
            </a:solidFill>
          </c:spPr>
          <c:cat>
            <c:strRef>
              <c:f>Sheet1!$A$2:$A$5</c:f>
              <c:strCache>
                <c:ptCount val="4"/>
                <c:pt idx="0">
                  <c:v>Logistic</c:v>
                </c:pt>
                <c:pt idx="1">
                  <c:v>Random Forest</c:v>
                </c:pt>
                <c:pt idx="2">
                  <c:v>XGBoost</c:v>
                </c:pt>
                <c:pt idx="3">
                  <c:v>MLP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0.7657946316998028</c:v>
                </c:pt>
                <c:pt idx="1">
                  <c:v>0.9966142838480068</c:v>
                </c:pt>
                <c:pt idx="2">
                  <c:v>0.9703042815720988</c:v>
                </c:pt>
                <c:pt idx="3">
                  <c:v>0.7517007287331589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Graph + 24h</c:v>
                </c:pt>
              </c:strCache>
            </c:strRef>
          </c:tx>
          <c:spPr>
            <a:solidFill>
              <a:srgbClr val="EFB145"/>
            </a:solidFill>
          </c:spPr>
          <c:cat>
            <c:strRef>
              <c:f>Sheet1!$A$2:$A$5</c:f>
              <c:strCache>
                <c:ptCount val="4"/>
                <c:pt idx="0">
                  <c:v>Logistic</c:v>
                </c:pt>
                <c:pt idx="1">
                  <c:v>Random Forest</c:v>
                </c:pt>
                <c:pt idx="2">
                  <c:v>XGBoost</c:v>
                </c:pt>
                <c:pt idx="3">
                  <c:v>MLP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0.6962017092111523</c:v>
                </c:pt>
                <c:pt idx="1">
                  <c:v>0.9984589724786253</c:v>
                </c:pt>
                <c:pt idx="2">
                  <c:v>0.9711327005631024</c:v>
                </c:pt>
                <c:pt idx="3">
                  <c:v>0.7963028869640163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PR-AUC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1097280"/>
            <a:ext cx="1828800" cy="1828800"/>
          </a:xfrm>
          <a:prstGeom prst="ellipse">
            <a:avLst/>
          </a:prstGeom>
          <a:solidFill>
            <a:srgbClr val="30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55480" y="1401317"/>
            <a:ext cx="1325880" cy="1325880"/>
          </a:xfrm>
          <a:prstGeom prst="ellipse">
            <a:avLst/>
          </a:prstGeom>
          <a:solidFill>
            <a:srgbClr val="23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1641347"/>
            <a:ext cx="868680" cy="868680"/>
          </a:xfrm>
          <a:prstGeom prst="ellipse">
            <a:avLst/>
          </a:prstGeom>
          <a:solidFill>
            <a:srgbClr val="EF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04088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A69A"/>
                </a:solidFill>
                <a:latin typeface="Aptos"/>
              </a:rPr>
              <a:t>GRAPH-BASED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Fraud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907792"/>
            <a:ext cx="67665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0">
                <a:solidFill>
                  <a:srgbClr val="CFDCEC"/>
                </a:solidFill>
                <a:latin typeface="Aptos"/>
              </a:rPr>
              <a:t>A resource-bounded local graph experiment on PaySim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49240"/>
            <a:ext cx="98755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12 matched experiments  |  4 model families  |  3 feature 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B7C5D6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B7C5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A69A"/>
                </a:solidFill>
                <a:latin typeface="Aptos"/>
              </a:rPr>
              <a:t>PROJECT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6"/>
                </a:solidFill>
                <a:latin typeface="Aptos"/>
              </a:rPr>
              <a:t>Question and implementation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487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487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11F36"/>
                </a:solidFill>
                <a:latin typeface="Aptos"/>
              </a:rPr>
              <a:t>Do account relationships and recent transaction activity improve fraud detection beyond transaction-level predictors?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383280" cy="20574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90779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071BE"/>
                </a:solidFill>
                <a:latin typeface="Aptos"/>
              </a:rPr>
              <a:t>Local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83280"/>
            <a:ext cx="2980944" cy="1307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43041"/>
                </a:solidFill>
                <a:latin typeface="Aptos"/>
              </a:rPr>
              <a:t>Build an account graph in NetworkX from a deterministic training-edge sample. No graph database service is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383280" cy="20574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90779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A69A"/>
                </a:solidFill>
                <a:latin typeface="Aptos"/>
              </a:rPr>
              <a:t>Matched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383280"/>
            <a:ext cx="2980944" cy="1307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43041"/>
                </a:solidFill>
                <a:latin typeface="Aptos"/>
              </a:rPr>
              <a:t>Compare tabular-only, tabular + graph, and tabular + graph + 24-hour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743200"/>
            <a:ext cx="3383280" cy="20574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90779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FB145"/>
                </a:solidFill>
                <a:latin typeface="Aptos"/>
              </a:rPr>
              <a:t>Time-aware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383280"/>
            <a:ext cx="2980944" cy="1307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43041"/>
                </a:solidFill>
                <a:latin typeface="Aptos"/>
              </a:rPr>
              <a:t>Preserve chronological validation and test periods; keep threshold selection on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A69A"/>
                </a:solidFill>
                <a:latin typeface="Aptos"/>
              </a:rPr>
              <a:t>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6"/>
                </a:solidFill>
                <a:latin typeface="Aptos"/>
              </a:rPr>
              <a:t>Data: severe imbalance, chronological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487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487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14173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071BE"/>
                </a:solidFill>
                <a:latin typeface="Aptos"/>
              </a:rPr>
              <a:t>6.36M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298094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transactions in the synthetic PaySim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14173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1907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A69A"/>
                </a:solidFill>
                <a:latin typeface="Aptos"/>
              </a:rPr>
              <a:t>8,213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94560"/>
            <a:ext cx="298094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fraud transactions (0.1291%)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14173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71907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FB145"/>
                </a:solidFill>
                <a:latin typeface="Aptos"/>
              </a:rPr>
              <a:t>50,000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194560"/>
            <a:ext cx="2980944" cy="667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sampled train edges; 51 frauds; 98,145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3756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11F36"/>
                </a:solidFill>
                <a:latin typeface="Aptos"/>
              </a:rPr>
              <a:t>Chronological partitions by unique transaction 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3383280" cy="13716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50791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071BE"/>
                </a:solidFill>
                <a:latin typeface="Aptos"/>
              </a:rPr>
              <a:t>TRAIN  •  through step 520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526280"/>
            <a:ext cx="2980944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6,082,007 rows total
50,000 rows used in matched runs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886200"/>
            <a:ext cx="3383280" cy="13716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4050791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A69A"/>
                </a:solidFill>
                <a:latin typeface="Aptos"/>
              </a:rPr>
              <a:t>VALIDATION  •  steps 521–631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526280"/>
            <a:ext cx="2980944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43041"/>
                </a:solidFill>
                <a:latin typeface="Aptos"/>
              </a:rPr>
              <a:t>191,147 rows
Full period; used for early stopping and threshold selection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886200"/>
            <a:ext cx="3383280" cy="13716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4050791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FB145"/>
                </a:solidFill>
                <a:latin typeface="Aptos"/>
              </a:rPr>
              <a:t>TEST  •  steps 632–743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526280"/>
            <a:ext cx="2980944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43041"/>
                </a:solidFill>
                <a:latin typeface="Aptos"/>
              </a:rPr>
              <a:t>89,466 rows
Full period; held out for reported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10515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7487"/>
                </a:solidFill>
                <a:latin typeface="Aptos"/>
              </a:rPr>
              <a:t>Sample seed: 42  •  sampled training data is about 0.82% of the full training split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A69A"/>
                </a:solidFill>
                <a:latin typeface="Apto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6"/>
                </a:solidFill>
                <a:latin typeface="Aptos"/>
              </a:rPr>
              <a:t>End-to-end experimental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487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487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057400" cy="20574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21992"/>
            <a:ext cx="165506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071BE"/>
                </a:solidFill>
                <a:latin typeface="Aptos"/>
              </a:rPr>
              <a:t>01  Chronological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97480"/>
            <a:ext cx="1655064" cy="1307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Train / validation / test by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34640"/>
            <a:ext cx="2743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66748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2057400"/>
            <a:ext cx="2057400" cy="20574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2221992"/>
            <a:ext cx="165506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A69A"/>
                </a:solidFill>
                <a:latin typeface="Aptos"/>
              </a:rPr>
              <a:t>02  Feature 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697480"/>
            <a:ext cx="1655064" cy="1307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Tabular + causal temporal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79" y="2834640"/>
            <a:ext cx="2743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66748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057400"/>
            <a:ext cx="2057400" cy="20574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8968" y="2221992"/>
            <a:ext cx="165506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FB145"/>
                </a:solidFill>
                <a:latin typeface="Aptos"/>
              </a:rPr>
              <a:t>03  Local graph 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2697480"/>
            <a:ext cx="1655064" cy="1307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50,000 training edges; seed 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834640"/>
            <a:ext cx="2743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66748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19" y="2057400"/>
            <a:ext cx="2057400" cy="20574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2221992"/>
            <a:ext cx="165506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071BE"/>
                </a:solidFill>
                <a:latin typeface="Aptos"/>
              </a:rPr>
              <a:t>04  Train &amp; 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697480"/>
            <a:ext cx="1655064" cy="1307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Four classifiers; validation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19" y="2834640"/>
            <a:ext cx="2743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667487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2057400"/>
            <a:ext cx="2057400" cy="20574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2408" y="2221992"/>
            <a:ext cx="165506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A69A"/>
                </a:solidFill>
                <a:latin typeface="Aptos"/>
              </a:rPr>
              <a:t>05  Test &amp;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22408" y="2697480"/>
            <a:ext cx="1655064" cy="1307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PR-AUC and threshold-based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92040"/>
            <a:ext cx="10515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11F36"/>
                </a:solidFill>
                <a:latin typeface="Aptos"/>
              </a:rPr>
              <a:t>Scripts: preprocessing → temporal features → sampled graph features → experiments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A69A"/>
                </a:solidFill>
                <a:latin typeface="Apto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6"/>
                </a:solidFill>
                <a:latin typeface="Aptos"/>
              </a:rPr>
              <a:t>Graph features with temporal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487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487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1874519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64792"/>
            <a:ext cx="4718303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071BE"/>
                </a:solidFill>
                <a:latin typeface="Aptos"/>
              </a:rPr>
              <a:t>Account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4718303" cy="11247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43041"/>
                </a:solidFill>
                <a:latin typeface="Aptos"/>
              </a:rPr>
              <a:t>Directed edge: origin account → destination account
Transaction amount is the edge weight
NetworkX weighted PageRank + weakly connected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120640" cy="1874519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64792"/>
            <a:ext cx="4718303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A69A"/>
                </a:solidFill>
                <a:latin typeface="Aptos"/>
              </a:rPr>
              <a:t>Per-account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240280"/>
            <a:ext cx="4718303" cy="11247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43041"/>
                </a:solidFill>
                <a:latin typeface="Aptos"/>
              </a:rPr>
              <a:t>In/out degree
Weighted degree
Unique counterparties
Unseen-account indicator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120640" cy="16002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50791"/>
            <a:ext cx="4718303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FB145"/>
                </a:solidFill>
                <a:latin typeface="Aptos"/>
              </a:rPr>
              <a:t>Leakage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26280"/>
            <a:ext cx="4718303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Training aggregates use only earlier steps; each step is updated after its features are formed. Validation/test use the frozen training graph.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86200"/>
            <a:ext cx="5120640" cy="16002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4050791"/>
            <a:ext cx="4718303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071BE"/>
                </a:solidFill>
                <a:latin typeface="Aptos"/>
              </a:rPr>
              <a:t>Temporal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526280"/>
            <a:ext cx="4718303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Causal range: [step − window, step). Current-step activity is excluded. Primary window is 24 hours; 6h and 72h caches support sensitivity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A69A"/>
                </a:solidFill>
                <a:latin typeface="Aptos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6"/>
                </a:solidFill>
                <a:latin typeface="Aptos"/>
              </a:rPr>
              <a:t>Matched experiment matrix and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487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487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11F36"/>
                </a:solidFill>
                <a:latin typeface="Aptos"/>
              </a:rPr>
              <a:t>4 model families × 3 feature sets = 12 main experiments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383280" cy="214884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35915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071BE"/>
                </a:solidFill>
                <a:latin typeface="Aptos"/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39"/>
            <a:ext cx="2980944" cy="1399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43041"/>
                </a:solidFill>
                <a:latin typeface="Aptos"/>
              </a:rPr>
              <a:t>Logistic Regression
Random Forest
XGBoost
MLP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383280" cy="214884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5915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A69A"/>
                </a:solidFill>
                <a:latin typeface="Aptos"/>
              </a:rPr>
              <a:t>Feature 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834639"/>
            <a:ext cx="2980944" cy="1399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Sampled tabular
Sampled tabular + graph
Sampled tabular + graph + 24h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94560"/>
            <a:ext cx="3383280" cy="214884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35915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FB145"/>
                </a:solidFill>
                <a:latin typeface="Aptos"/>
              </a:rPr>
              <a:t>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834639"/>
            <a:ext cx="2980944" cy="1399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Primary: test PR-AUC
Also: ROC-AUC, precision, recall, F1
Threshold selected on validation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1033272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243041"/>
                </a:solidFill>
                <a:latin typeface="Aptos"/>
              </a:rPr>
              <a:t>Every matrix cell uses the same 50,000 sampled training row IDs; validation and test remain full-sized.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A69A"/>
                </a:solidFill>
                <a:latin typeface="Apto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6"/>
                </a:solidFill>
                <a:latin typeface="Aptos"/>
              </a:rPr>
              <a:t>Measured test PR-AUC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487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487"/>
                </a:solidFill>
                <a:latin typeface="Aptos"/>
              </a:rPr>
              <a:t>07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481328"/>
          <a:ext cx="1078992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815584"/>
            <a:ext cx="1051560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7487"/>
                </a:solidFill>
                <a:latin typeface="Aptos"/>
              </a:rPr>
              <a:t>The validation/test partitions remain full size; all matrix models share the same 50,000-row training sample.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A69A"/>
                </a:solidFill>
                <a:latin typeface="Aptos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6"/>
                </a:solidFill>
                <a:latin typeface="Aptos"/>
              </a:rPr>
              <a:t>What the measured results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487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487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16002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6479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A69A"/>
                </a:solidFill>
                <a:latin typeface="Aptos"/>
              </a:rPr>
              <a:t>Best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2980944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43041"/>
                </a:solidFill>
                <a:latin typeface="Aptos"/>
              </a:rPr>
              <a:t>Random Forest: 0.998459 PR-AUC with graph + 24h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16002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6479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071BE"/>
                </a:solidFill>
                <a:latin typeface="Aptos"/>
              </a:rPr>
              <a:t>No universal graph 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240280"/>
            <a:ext cx="2980944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43041"/>
                </a:solidFill>
                <a:latin typeface="Aptos"/>
              </a:rPr>
              <a:t>Graph-only PR-AUC improved for 2/4 models; mean change -0.007360.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383280" cy="16002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76479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FB145"/>
                </a:solidFill>
                <a:latin typeface="Aptos"/>
              </a:rPr>
              <a:t>Model-specific effects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40280"/>
            <a:ext cx="2980944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Graph + temporal vs sampled tabular: MLP +0.055913; Logistic Regression -0.111197.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0332720" cy="18288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Adding 24-hour activity to graph features improved 3/4 model families; mean change -0.005579.</a:t>
            </a:r>
          </a:p>
          <a:p>
            <a:pPr>
              <a:spcAft>
                <a:spcPts val="11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Random Forest is consistently near the top on this synthetic benchmark; an almost-perfect score is not a real-world performance guarantee.</a:t>
            </a:r>
          </a:p>
          <a:p>
            <a:pPr>
              <a:spcAft>
                <a:spcPts val="11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Compare feature sets within a model and sample design; supplemental full-training tabular results are not a matched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A69A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6"/>
                </a:solidFill>
                <a:latin typeface="Aptos"/>
              </a:rPr>
              <a:t>A graph workflow that fits local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487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487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1051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071BE"/>
                </a:solidFill>
                <a:latin typeface="Aptos"/>
              </a:rPr>
              <a:t>No database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2980944" cy="10789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43041"/>
                </a:solidFill>
                <a:latin typeface="Aptos"/>
              </a:rPr>
              <a:t>Python + NetworkX; no Neo4j, AuraDB, Java service, or GDS installation in the experiment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18288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81051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A69A"/>
                </a:solidFill>
                <a:latin typeface="Aptos"/>
              </a:rPr>
              <a:t>Bounded training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286000"/>
            <a:ext cx="2980944" cy="10789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43041"/>
                </a:solidFill>
                <a:latin typeface="Aptos"/>
              </a:rPr>
              <a:t>Deterministic cap: 50,000 edges
98,145 accounts
Seed: 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182880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810512"/>
            <a:ext cx="29809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FB145"/>
                </a:solidFill>
                <a:latin typeface="Aptos"/>
              </a:rPr>
              <a:t>Observed run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86000"/>
            <a:ext cx="2980944" cy="10789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43041"/>
                </a:solidFill>
                <a:latin typeface="Aptos"/>
              </a:rPr>
              <a:t>Prior local graph build used roughly 2.5–2.7 GB process memory on the project machine. This is an observed run, not a formal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645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A69A"/>
                </a:solidFill>
                <a:latin typeface="Aptos"/>
              </a:rPr>
              <a:t>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53712"/>
            <a:ext cx="1042416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11F36"/>
                </a:solidFill>
                <a:latin typeface="Aptos"/>
              </a:rPr>
              <a:t>Lower setup and resource burden, but the sample cannot represent every edge in the full transaction graph.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A69A"/>
                </a:solidFill>
                <a:latin typeface="Aptos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6"/>
                </a:solidFill>
                <a:latin typeface="Aptos"/>
              </a:rPr>
              <a:t>Limitations and next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487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487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169164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64792"/>
            <a:ext cx="4718303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071BE"/>
                </a:solidFill>
                <a:latin typeface="Aptos"/>
              </a:rPr>
              <a:t>Benchmark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4718303" cy="9418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Synthetic PaySim data; only 50,000 of 6.08M training rows enter the matched runs; one fixed random seed.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120640" cy="169164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64792"/>
            <a:ext cx="4718303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A69A"/>
                </a:solidFill>
                <a:latin typeface="Aptos"/>
              </a:rPr>
              <a:t>Model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240280"/>
            <a:ext cx="4718303" cy="9418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3041"/>
                </a:solidFill>
                <a:latin typeface="Aptos"/>
              </a:rPr>
              <a:t>Feature-engineered graph signals with conventional models. No graph neural network is implemented.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241280" cy="17373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Repeat the matrix over multiple sample seeds and report variability.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Evaluate on independent datasets or operationally realistic data before making deployment claims.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Investigate the model-specific effect of graph and temporal features, including calibration and cost-sensitive thresholds.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A69A"/>
                </a:solidFill>
                <a:latin typeface="Aptos"/>
              </a:rP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6"/>
                </a:solidFill>
                <a:latin typeface="Aptos"/>
              </a:rPr>
              <a:t>Reproduce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487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487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A69A"/>
                </a:solidFill>
                <a:latin typeface="Aptos"/>
              </a:rPr>
              <a:t>Install and 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3327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43041"/>
                </a:solidFill>
                <a:latin typeface="Consolas"/>
              </a:rPr>
              <a:t>python -m pip install -r requirements.txt
Place PaySim CSV at data.raw_path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A69A"/>
                </a:solidFill>
                <a:latin typeface="Aptos"/>
              </a:rPr>
              <a:t>Run from the repository root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83280"/>
            <a:ext cx="10607040" cy="196596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9966960" cy="1554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43041"/>
                </a:solidFill>
                <a:latin typeface="Consolas"/>
              </a:rPr>
              <a:t>python scripts/run_preprocessing.py
python scripts/run_temporal_features.py
python scripts/run_sampled_graph_features.py
python scripts/run_experiments.py
python scripts/create_presentation.py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4241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7487"/>
                </a:solidFill>
                <a:latin typeface="Aptos"/>
              </a:rPr>
              <a:t>Raw data, caches, and generated metrics are intentionally excluded from Git.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27432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A69A"/>
                </a:solidFill>
                <a:latin typeface="Aptos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1417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Local graph features are feasible to evaluate—
but their value depends on the model and the sample.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03320"/>
            <a:ext cx="10332720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CFDCEC"/>
                </a:solidFill>
                <a:latin typeface="Aptos"/>
              </a:rPr>
              <a:t>Measured results use a deterministic 50,000-edge training sample and full chronological validation/test periods. They are not full-graph or deployment estimates.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7C5D6"/>
                </a:solidFill>
                <a:latin typeface="Aptos"/>
              </a:rPr>
              <a:t>Dataset: PaySim — Kaggle, Synthetic Financial Datasets For Fraud Detection (CC BY-SA 4.0)
https://www.kaggle.com/datasets/ealaxi/paysim1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966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B7C5D6"/>
                </a:solidFill>
                <a:latin typeface="Aptos"/>
              </a:rPr>
              <a:t>GRAPH-BASED FRAUD DETECTION  •  PAYSIM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B7C5D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